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Canva Sans" panose="020B0604020202020204" charset="0"/>
      <p:regular r:id="rId11"/>
    </p:embeddedFont>
    <p:embeddedFont>
      <p:font typeface="Canva Sans Bold" panose="020B0604020202020204" charset="0"/>
      <p:regular r:id="rId12"/>
    </p:embeddedFont>
    <p:embeddedFont>
      <p:font typeface="Canva Sans Italics" panose="020B0604020202020204" charset="0"/>
      <p:regular r:id="rId13"/>
    </p:embeddedFont>
    <p:embeddedFont>
      <p:font typeface="Montserrat" panose="00000500000000000000" pitchFamily="2" charset="0"/>
      <p:regular r:id="rId14"/>
      <p:bold r:id="rId15"/>
      <p:italic r:id="rId16"/>
      <p:boldItalic r:id="rId17"/>
    </p:embeddedFont>
    <p:embeddedFont>
      <p:font typeface="Montserrat Bold" panose="00000800000000000000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19918" y="3590669"/>
            <a:ext cx="20127836" cy="11161800"/>
          </a:xfrm>
          <a:custGeom>
            <a:avLst/>
            <a:gdLst/>
            <a:ahLst/>
            <a:cxnLst/>
            <a:rect l="l" t="t" r="r" b="b"/>
            <a:pathLst>
              <a:path w="20127836" h="11161800">
                <a:moveTo>
                  <a:pt x="0" y="0"/>
                </a:moveTo>
                <a:lnTo>
                  <a:pt x="20127836" y="0"/>
                </a:lnTo>
                <a:lnTo>
                  <a:pt x="20127836" y="11161800"/>
                </a:lnTo>
                <a:lnTo>
                  <a:pt x="0" y="11161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896552" y="7512413"/>
            <a:ext cx="6247448" cy="2085123"/>
            <a:chOff x="0" y="-57151"/>
            <a:chExt cx="8329930" cy="2780164"/>
          </a:xfrm>
        </p:grpSpPr>
        <p:sp>
          <p:nvSpPr>
            <p:cNvPr id="4" name="TextBox 4"/>
            <p:cNvSpPr txBox="1"/>
            <p:nvPr/>
          </p:nvSpPr>
          <p:spPr>
            <a:xfrm>
              <a:off x="0" y="-57151"/>
              <a:ext cx="8329930" cy="278016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3312"/>
                </a:lnSpc>
              </a:pPr>
              <a:r>
                <a:rPr lang="en-US" sz="2366" b="1" dirty="0">
                  <a:solidFill>
                    <a:srgbClr val="1C1C1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REALISE PAR :</a:t>
              </a:r>
            </a:p>
            <a:p>
              <a:pPr algn="l">
                <a:lnSpc>
                  <a:spcPts val="3312"/>
                </a:lnSpc>
              </a:pPr>
              <a:r>
                <a:rPr lang="en-US" sz="2366" b="1" dirty="0">
                  <a:solidFill>
                    <a:srgbClr val="1C1C1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    OKAMBA GRACE CALEB</a:t>
              </a:r>
            </a:p>
            <a:p>
              <a:pPr algn="l">
                <a:lnSpc>
                  <a:spcPts val="3312"/>
                </a:lnSpc>
              </a:pPr>
              <a:r>
                <a:rPr lang="en-US" sz="2366" b="1" dirty="0">
                  <a:solidFill>
                    <a:srgbClr val="1C1C1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    ZALLA NGODI ASTREL DU CHEMIN</a:t>
              </a:r>
            </a:p>
            <a:p>
              <a:pPr algn="l">
                <a:lnSpc>
                  <a:spcPts val="3312"/>
                </a:lnSpc>
              </a:pPr>
              <a:r>
                <a:rPr lang="en-US" sz="2366" b="1" dirty="0">
                  <a:solidFill>
                    <a:srgbClr val="1C1C1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    DIARRASSOUBA NASSONG AMINATA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674382"/>
              <a:ext cx="329634" cy="329634"/>
              <a:chOff x="0" y="0"/>
              <a:chExt cx="812800" cy="8128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812800" y="406400"/>
                    </a:moveTo>
                    <a:lnTo>
                      <a:pt x="406400" y="0"/>
                    </a:lnTo>
                    <a:lnTo>
                      <a:pt x="406400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406400" y="609600"/>
                    </a:lnTo>
                    <a:lnTo>
                      <a:pt x="406400" y="812800"/>
                    </a:lnTo>
                    <a:lnTo>
                      <a:pt x="812800" y="406400"/>
                    </a:lnTo>
                    <a:close/>
                  </a:path>
                </a:pathLst>
              </a:custGeom>
              <a:solidFill>
                <a:srgbClr val="1A60CE"/>
              </a:solidFill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146050"/>
                <a:ext cx="711200" cy="4635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12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0" y="1231970"/>
              <a:ext cx="329634" cy="329634"/>
              <a:chOff x="0" y="0"/>
              <a:chExt cx="812800" cy="8128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812800" y="406400"/>
                    </a:moveTo>
                    <a:lnTo>
                      <a:pt x="406400" y="0"/>
                    </a:lnTo>
                    <a:lnTo>
                      <a:pt x="406400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406400" y="609600"/>
                    </a:lnTo>
                    <a:lnTo>
                      <a:pt x="406400" y="812800"/>
                    </a:lnTo>
                    <a:lnTo>
                      <a:pt x="812800" y="406400"/>
                    </a:lnTo>
                    <a:close/>
                  </a:path>
                </a:pathLst>
              </a:custGeom>
              <a:solidFill>
                <a:srgbClr val="1A60CE"/>
              </a:solidFill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0" y="146050"/>
                <a:ext cx="711200" cy="4635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12"/>
                  </a:lnSpc>
                </a:pPr>
                <a:endParaRPr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0" y="1790204"/>
              <a:ext cx="329634" cy="329634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812800" y="406400"/>
                    </a:moveTo>
                    <a:lnTo>
                      <a:pt x="406400" y="0"/>
                    </a:lnTo>
                    <a:lnTo>
                      <a:pt x="406400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406400" y="609600"/>
                    </a:lnTo>
                    <a:lnTo>
                      <a:pt x="406400" y="812800"/>
                    </a:lnTo>
                    <a:lnTo>
                      <a:pt x="812800" y="406400"/>
                    </a:lnTo>
                    <a:close/>
                  </a:path>
                </a:pathLst>
              </a:custGeom>
              <a:solidFill>
                <a:srgbClr val="1A60CE"/>
              </a:solid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146050"/>
                <a:ext cx="711200" cy="4635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12"/>
                  </a:lnSpc>
                </a:pPr>
                <a:endParaRPr/>
              </a:p>
            </p:txBody>
          </p:sp>
        </p:grpSp>
      </p:grpSp>
      <p:grpSp>
        <p:nvGrpSpPr>
          <p:cNvPr id="14" name="Group 14"/>
          <p:cNvGrpSpPr/>
          <p:nvPr/>
        </p:nvGrpSpPr>
        <p:grpSpPr>
          <a:xfrm>
            <a:off x="3679852" y="3590669"/>
            <a:ext cx="11210615" cy="2320293"/>
            <a:chOff x="0" y="0"/>
            <a:chExt cx="2306711" cy="47742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306711" cy="477427"/>
            </a:xfrm>
            <a:custGeom>
              <a:avLst/>
              <a:gdLst/>
              <a:ahLst/>
              <a:cxnLst/>
              <a:rect l="l" t="t" r="r" b="b"/>
              <a:pathLst>
                <a:path w="2306711" h="477427">
                  <a:moveTo>
                    <a:pt x="13488" y="0"/>
                  </a:moveTo>
                  <a:lnTo>
                    <a:pt x="2293223" y="0"/>
                  </a:lnTo>
                  <a:cubicBezTo>
                    <a:pt x="2300672" y="0"/>
                    <a:pt x="2306711" y="6039"/>
                    <a:pt x="2306711" y="13488"/>
                  </a:cubicBezTo>
                  <a:lnTo>
                    <a:pt x="2306711" y="463939"/>
                  </a:lnTo>
                  <a:cubicBezTo>
                    <a:pt x="2306711" y="467516"/>
                    <a:pt x="2305290" y="470946"/>
                    <a:pt x="2302760" y="473476"/>
                  </a:cubicBezTo>
                  <a:cubicBezTo>
                    <a:pt x="2300231" y="476006"/>
                    <a:pt x="2296800" y="477427"/>
                    <a:pt x="2293223" y="477427"/>
                  </a:cubicBezTo>
                  <a:lnTo>
                    <a:pt x="13488" y="477427"/>
                  </a:lnTo>
                  <a:cubicBezTo>
                    <a:pt x="6039" y="477427"/>
                    <a:pt x="0" y="471388"/>
                    <a:pt x="0" y="463939"/>
                  </a:cubicBezTo>
                  <a:lnTo>
                    <a:pt x="0" y="13488"/>
                  </a:lnTo>
                  <a:cubicBezTo>
                    <a:pt x="0" y="6039"/>
                    <a:pt x="6039" y="0"/>
                    <a:pt x="13488" y="0"/>
                  </a:cubicBezTo>
                  <a:close/>
                </a:path>
              </a:pathLst>
            </a:custGeom>
            <a:solidFill>
              <a:srgbClr val="1A60CE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306711" cy="5155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947723" y="3708300"/>
            <a:ext cx="10392553" cy="19707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26"/>
              </a:lnSpc>
              <a:spcBef>
                <a:spcPct val="0"/>
              </a:spcBef>
            </a:pPr>
            <a:r>
              <a:rPr lang="en-US" sz="5662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Dét</a:t>
            </a:r>
            <a:r>
              <a:rPr lang="en-US" sz="5662" b="1" u="none" strike="noStrik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ection de fraude sur les transactions bancaires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54051" y="1294381"/>
            <a:ext cx="16979898" cy="217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35"/>
              </a:lnSpc>
            </a:pPr>
            <a:r>
              <a:rPr lang="en-US" sz="12649" b="1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Projet Data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13959558" y="6682068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428764" y="8484534"/>
            <a:ext cx="1199873" cy="119987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435203" y="2018410"/>
            <a:ext cx="3086100" cy="186854"/>
            <a:chOff x="0" y="0"/>
            <a:chExt cx="635000" cy="384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" cy="38447"/>
            </a:xfrm>
            <a:custGeom>
              <a:avLst/>
              <a:gdLst/>
              <a:ahLst/>
              <a:cxnLst/>
              <a:rect l="l" t="t" r="r" b="b"/>
              <a:pathLst>
                <a:path w="635000" h="38447">
                  <a:moveTo>
                    <a:pt x="0" y="0"/>
                  </a:moveTo>
                  <a:lnTo>
                    <a:pt x="635000" y="0"/>
                  </a:lnTo>
                  <a:lnTo>
                    <a:pt x="635000" y="38447"/>
                  </a:lnTo>
                  <a:lnTo>
                    <a:pt x="0" y="38447"/>
                  </a:ln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35000" cy="765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517397" y="4160180"/>
            <a:ext cx="814172" cy="814172"/>
          </a:xfrm>
          <a:custGeom>
            <a:avLst/>
            <a:gdLst/>
            <a:ahLst/>
            <a:cxnLst/>
            <a:rect l="l" t="t" r="r" b="b"/>
            <a:pathLst>
              <a:path w="814172" h="814172">
                <a:moveTo>
                  <a:pt x="0" y="0"/>
                </a:moveTo>
                <a:lnTo>
                  <a:pt x="814172" y="0"/>
                </a:lnTo>
                <a:lnTo>
                  <a:pt x="814172" y="814171"/>
                </a:lnTo>
                <a:lnTo>
                  <a:pt x="0" y="81417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435203" y="923669"/>
            <a:ext cx="15508211" cy="10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OBJECTIFS DU PROJET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51501" y="4219276"/>
            <a:ext cx="10119102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13"/>
              </a:lnSpc>
            </a:pPr>
            <a:r>
              <a:rPr lang="en-US" sz="3724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Comprendre le dataset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43239" y="8735844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0" y="9877425"/>
            <a:ext cx="5227506" cy="27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9"/>
              </a:lnSpc>
              <a:spcBef>
                <a:spcPct val="0"/>
              </a:spcBef>
            </a:pPr>
            <a:r>
              <a:rPr lang="en-US" sz="1884" i="1">
                <a:solidFill>
                  <a:srgbClr val="545454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Projet Data Science Master 1 ISI 2025-2026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51501" y="5836077"/>
            <a:ext cx="10119102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13"/>
              </a:lnSpc>
            </a:pPr>
            <a:r>
              <a:rPr lang="en-US" sz="3724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Analyser les transactions</a:t>
            </a:r>
          </a:p>
        </p:txBody>
      </p:sp>
      <p:sp>
        <p:nvSpPr>
          <p:cNvPr id="16" name="Freeform 16"/>
          <p:cNvSpPr/>
          <p:nvPr/>
        </p:nvSpPr>
        <p:spPr>
          <a:xfrm>
            <a:off x="3517397" y="5776981"/>
            <a:ext cx="814172" cy="814172"/>
          </a:xfrm>
          <a:custGeom>
            <a:avLst/>
            <a:gdLst/>
            <a:ahLst/>
            <a:cxnLst/>
            <a:rect l="l" t="t" r="r" b="b"/>
            <a:pathLst>
              <a:path w="814172" h="814172">
                <a:moveTo>
                  <a:pt x="0" y="0"/>
                </a:moveTo>
                <a:lnTo>
                  <a:pt x="814172" y="0"/>
                </a:lnTo>
                <a:lnTo>
                  <a:pt x="814172" y="814171"/>
                </a:lnTo>
                <a:lnTo>
                  <a:pt x="0" y="81417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517397" y="7391252"/>
            <a:ext cx="814172" cy="814172"/>
          </a:xfrm>
          <a:custGeom>
            <a:avLst/>
            <a:gdLst/>
            <a:ahLst/>
            <a:cxnLst/>
            <a:rect l="l" t="t" r="r" b="b"/>
            <a:pathLst>
              <a:path w="814172" h="814172">
                <a:moveTo>
                  <a:pt x="0" y="0"/>
                </a:moveTo>
                <a:lnTo>
                  <a:pt x="814172" y="0"/>
                </a:lnTo>
                <a:lnTo>
                  <a:pt x="814172" y="814172"/>
                </a:lnTo>
                <a:lnTo>
                  <a:pt x="0" y="8141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4651501" y="7450349"/>
            <a:ext cx="10119102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13"/>
              </a:lnSpc>
            </a:pPr>
            <a:r>
              <a:rPr lang="en-US" sz="3724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Détecter les fraudes bancaires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13959558" y="6682068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428764" y="8484534"/>
            <a:ext cx="1199873" cy="119987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435203" y="2018410"/>
            <a:ext cx="3086100" cy="186854"/>
            <a:chOff x="0" y="0"/>
            <a:chExt cx="635000" cy="384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" cy="38447"/>
            </a:xfrm>
            <a:custGeom>
              <a:avLst/>
              <a:gdLst/>
              <a:ahLst/>
              <a:cxnLst/>
              <a:rect l="l" t="t" r="r" b="b"/>
              <a:pathLst>
                <a:path w="635000" h="38447">
                  <a:moveTo>
                    <a:pt x="0" y="0"/>
                  </a:moveTo>
                  <a:lnTo>
                    <a:pt x="635000" y="0"/>
                  </a:lnTo>
                  <a:lnTo>
                    <a:pt x="635000" y="38447"/>
                  </a:lnTo>
                  <a:lnTo>
                    <a:pt x="0" y="38447"/>
                  </a:ln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35000" cy="765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435203" y="923669"/>
            <a:ext cx="15508211" cy="10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COMPRÉHENSION DES DONNÉES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43239" y="8735844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0" y="9877425"/>
            <a:ext cx="5227506" cy="27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9"/>
              </a:lnSpc>
              <a:spcBef>
                <a:spcPct val="0"/>
              </a:spcBef>
            </a:pPr>
            <a:r>
              <a:rPr lang="en-US" sz="1884" i="1">
                <a:solidFill>
                  <a:srgbClr val="545454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Projet Data Science Master 1 ISI 2025-2026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28636" y="3964949"/>
            <a:ext cx="6830232" cy="47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16"/>
              </a:lnSpc>
            </a:pPr>
            <a:r>
              <a:rPr lang="en-US" sz="3289" b="1" u="sng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STRUCTURE DU DATASET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28636" y="5162550"/>
            <a:ext cx="8582164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50"/>
              </a:lnSpc>
              <a:spcBef>
                <a:spcPct val="0"/>
              </a:spcBef>
            </a:pPr>
            <a:r>
              <a:rPr lang="en-US" sz="3230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Dataset : Credit Card Fraud Detection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28636" y="6061398"/>
            <a:ext cx="7058164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50"/>
              </a:lnSpc>
              <a:spcBef>
                <a:spcPct val="0"/>
              </a:spcBef>
            </a:pPr>
            <a:r>
              <a:rPr lang="en-US" sz="3230" b="1" u="none" strike="noStrike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284 807 Transactions </a:t>
            </a:r>
            <a:r>
              <a:rPr lang="en-US" sz="3230" b="1" u="none" strike="noStrike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bancaires</a:t>
            </a:r>
            <a:endParaRPr lang="en-US" sz="3230" b="1" u="none" strike="noStrike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628636" y="6957654"/>
            <a:ext cx="3415116" cy="4720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50"/>
              </a:lnSpc>
              <a:spcBef>
                <a:spcPct val="0"/>
              </a:spcBef>
            </a:pPr>
            <a:r>
              <a:rPr lang="en-US" sz="3230" b="1" u="none" strike="noStrike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31 Variables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043752" y="8214954"/>
            <a:ext cx="7689878" cy="472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70"/>
              </a:lnSpc>
              <a:spcBef>
                <a:spcPct val="0"/>
              </a:spcBef>
            </a:pPr>
            <a:r>
              <a:rPr lang="en-US" sz="2764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Variable cible : Class (0 = Normal, 1 = Fraude)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13959558" y="6682068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428764" y="8484534"/>
            <a:ext cx="1199873" cy="119987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435203" y="2018410"/>
            <a:ext cx="3086100" cy="186854"/>
            <a:chOff x="0" y="0"/>
            <a:chExt cx="635000" cy="384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" cy="38447"/>
            </a:xfrm>
            <a:custGeom>
              <a:avLst/>
              <a:gdLst/>
              <a:ahLst/>
              <a:cxnLst/>
              <a:rect l="l" t="t" r="r" b="b"/>
              <a:pathLst>
                <a:path w="635000" h="38447">
                  <a:moveTo>
                    <a:pt x="0" y="0"/>
                  </a:moveTo>
                  <a:lnTo>
                    <a:pt x="635000" y="0"/>
                  </a:lnTo>
                  <a:lnTo>
                    <a:pt x="635000" y="38447"/>
                  </a:lnTo>
                  <a:lnTo>
                    <a:pt x="0" y="38447"/>
                  </a:ln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35000" cy="765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435203" y="923669"/>
            <a:ext cx="15508211" cy="10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TYPE DE PROBLÈME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43239" y="8735844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0" y="9877425"/>
            <a:ext cx="5227506" cy="27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9"/>
              </a:lnSpc>
              <a:spcBef>
                <a:spcPct val="0"/>
              </a:spcBef>
            </a:pPr>
            <a:r>
              <a:rPr lang="en-US" sz="1884" i="1">
                <a:solidFill>
                  <a:srgbClr val="545454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Projet Data Science Master 1 ISI 2025-2026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948966" y="5118015"/>
            <a:ext cx="11994448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833"/>
              </a:lnSpc>
              <a:spcBef>
                <a:spcPct val="0"/>
              </a:spcBef>
            </a:pPr>
            <a:r>
              <a:rPr lang="fr-FR" sz="4400" dirty="0"/>
              <a:t>Classification binaire</a:t>
            </a:r>
            <a:endParaRPr lang="en-US" sz="427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13959558" y="6682068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428764" y="8484534"/>
            <a:ext cx="1199873" cy="119987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435203" y="2018410"/>
            <a:ext cx="3086100" cy="186854"/>
            <a:chOff x="0" y="0"/>
            <a:chExt cx="635000" cy="384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" cy="38447"/>
            </a:xfrm>
            <a:custGeom>
              <a:avLst/>
              <a:gdLst/>
              <a:ahLst/>
              <a:cxnLst/>
              <a:rect l="l" t="t" r="r" b="b"/>
              <a:pathLst>
                <a:path w="635000" h="38447">
                  <a:moveTo>
                    <a:pt x="0" y="0"/>
                  </a:moveTo>
                  <a:lnTo>
                    <a:pt x="635000" y="0"/>
                  </a:lnTo>
                  <a:lnTo>
                    <a:pt x="635000" y="38447"/>
                  </a:lnTo>
                  <a:lnTo>
                    <a:pt x="0" y="38447"/>
                  </a:ln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35000" cy="765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435203" y="923669"/>
            <a:ext cx="15508211" cy="10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ANALYSE EXPLORATOIRE (EDA)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43239" y="8735844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0" y="9877425"/>
            <a:ext cx="5227506" cy="27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9"/>
              </a:lnSpc>
              <a:spcBef>
                <a:spcPct val="0"/>
              </a:spcBef>
            </a:pPr>
            <a:r>
              <a:rPr lang="en-US" sz="1884" i="1">
                <a:solidFill>
                  <a:srgbClr val="545454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Projet Data Science Master 1 ISI 2025-2026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54934" y="3817974"/>
            <a:ext cx="7179666" cy="5899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570"/>
              </a:lnSpc>
              <a:spcBef>
                <a:spcPct val="0"/>
              </a:spcBef>
            </a:pPr>
            <a:r>
              <a:rPr lang="en-US" sz="4045" b="1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Statistiques</a:t>
            </a:r>
            <a:r>
              <a:rPr lang="en-US" sz="4045" b="1" u="none" strike="noStrike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descriptives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20460" y="5319518"/>
            <a:ext cx="4466740" cy="5899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570"/>
              </a:lnSpc>
              <a:spcBef>
                <a:spcPct val="0"/>
              </a:spcBef>
            </a:pPr>
            <a:r>
              <a:rPr lang="en-US" sz="4045" b="1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Visualisa</a:t>
            </a:r>
            <a:r>
              <a:rPr lang="en-US" sz="4045" b="1" u="none" strike="noStrike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tions</a:t>
            </a:r>
            <a:endParaRPr lang="en-US" sz="4045" b="1" u="none" strike="noStrike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829349" y="8503939"/>
            <a:ext cx="7410651" cy="5899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570"/>
              </a:lnSpc>
              <a:spcBef>
                <a:spcPct val="0"/>
              </a:spcBef>
            </a:pPr>
            <a:r>
              <a:rPr lang="en-US" sz="4045" b="1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Déséquilibre</a:t>
            </a:r>
            <a:r>
              <a:rPr lang="en-US" sz="4045" b="1" u="none" strike="noStrike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des classes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393728" y="6821062"/>
            <a:ext cx="6130208" cy="5899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70"/>
              </a:lnSpc>
              <a:spcBef>
                <a:spcPct val="0"/>
              </a:spcBef>
            </a:pPr>
            <a:r>
              <a:rPr lang="en-US" sz="4045" b="1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Détection</a:t>
            </a:r>
            <a:r>
              <a:rPr lang="en-US" sz="4045" b="1" u="none" strike="noStrike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4045" b="1" u="none" strike="noStrike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d’outliers</a:t>
            </a:r>
            <a:endParaRPr lang="en-US" sz="4045" b="1" u="none" strike="noStrike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13959558" y="6682068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428764" y="8484534"/>
            <a:ext cx="1199873" cy="119987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435203" y="2018410"/>
            <a:ext cx="3086100" cy="186854"/>
            <a:chOff x="0" y="0"/>
            <a:chExt cx="635000" cy="384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" cy="38447"/>
            </a:xfrm>
            <a:custGeom>
              <a:avLst/>
              <a:gdLst/>
              <a:ahLst/>
              <a:cxnLst/>
              <a:rect l="l" t="t" r="r" b="b"/>
              <a:pathLst>
                <a:path w="635000" h="38447">
                  <a:moveTo>
                    <a:pt x="0" y="0"/>
                  </a:moveTo>
                  <a:lnTo>
                    <a:pt x="635000" y="0"/>
                  </a:lnTo>
                  <a:lnTo>
                    <a:pt x="635000" y="38447"/>
                  </a:lnTo>
                  <a:lnTo>
                    <a:pt x="0" y="38447"/>
                  </a:ln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35000" cy="765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89574" y="3935427"/>
            <a:ext cx="7183958" cy="1435198"/>
            <a:chOff x="0" y="0"/>
            <a:chExt cx="1478181" cy="29530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78181" cy="295308"/>
            </a:xfrm>
            <a:custGeom>
              <a:avLst/>
              <a:gdLst/>
              <a:ahLst/>
              <a:cxnLst/>
              <a:rect l="l" t="t" r="r" b="b"/>
              <a:pathLst>
                <a:path w="1478181" h="295308">
                  <a:moveTo>
                    <a:pt x="21048" y="0"/>
                  </a:moveTo>
                  <a:lnTo>
                    <a:pt x="1457132" y="0"/>
                  </a:lnTo>
                  <a:cubicBezTo>
                    <a:pt x="1462715" y="0"/>
                    <a:pt x="1468068" y="2218"/>
                    <a:pt x="1472016" y="6165"/>
                  </a:cubicBezTo>
                  <a:cubicBezTo>
                    <a:pt x="1475963" y="10112"/>
                    <a:pt x="1478181" y="15466"/>
                    <a:pt x="1478181" y="21048"/>
                  </a:cubicBezTo>
                  <a:lnTo>
                    <a:pt x="1478181" y="274260"/>
                  </a:lnTo>
                  <a:cubicBezTo>
                    <a:pt x="1478181" y="285885"/>
                    <a:pt x="1468757" y="295308"/>
                    <a:pt x="1457132" y="295308"/>
                  </a:cubicBezTo>
                  <a:lnTo>
                    <a:pt x="21048" y="295308"/>
                  </a:lnTo>
                  <a:cubicBezTo>
                    <a:pt x="15466" y="295308"/>
                    <a:pt x="10112" y="293091"/>
                    <a:pt x="6165" y="289143"/>
                  </a:cubicBezTo>
                  <a:cubicBezTo>
                    <a:pt x="2218" y="285196"/>
                    <a:pt x="0" y="279842"/>
                    <a:pt x="0" y="274260"/>
                  </a:cubicBezTo>
                  <a:lnTo>
                    <a:pt x="0" y="21048"/>
                  </a:lnTo>
                  <a:cubicBezTo>
                    <a:pt x="0" y="15466"/>
                    <a:pt x="2218" y="10112"/>
                    <a:pt x="6165" y="6165"/>
                  </a:cubicBezTo>
                  <a:cubicBezTo>
                    <a:pt x="10112" y="2218"/>
                    <a:pt x="15466" y="0"/>
                    <a:pt x="21048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478181" cy="3334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35203" y="923669"/>
            <a:ext cx="15508211" cy="10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PRÉPARATION DES DONNÉES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43239" y="8735844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0" y="9877425"/>
            <a:ext cx="5227506" cy="27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9"/>
              </a:lnSpc>
              <a:spcBef>
                <a:spcPct val="0"/>
              </a:spcBef>
            </a:pPr>
            <a:r>
              <a:rPr lang="en-US" sz="1884" i="1">
                <a:solidFill>
                  <a:srgbClr val="545454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Projet Data Science Master 1 ISI 2025-2026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404982" y="3972922"/>
            <a:ext cx="1199873" cy="1199873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419458" y="4224232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0D3CD3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189574" y="5951436"/>
            <a:ext cx="7183958" cy="1435198"/>
            <a:chOff x="0" y="0"/>
            <a:chExt cx="1478181" cy="29530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78181" cy="295308"/>
            </a:xfrm>
            <a:custGeom>
              <a:avLst/>
              <a:gdLst/>
              <a:ahLst/>
              <a:cxnLst/>
              <a:rect l="l" t="t" r="r" b="b"/>
              <a:pathLst>
                <a:path w="1478181" h="295308">
                  <a:moveTo>
                    <a:pt x="21048" y="0"/>
                  </a:moveTo>
                  <a:lnTo>
                    <a:pt x="1457132" y="0"/>
                  </a:lnTo>
                  <a:cubicBezTo>
                    <a:pt x="1462715" y="0"/>
                    <a:pt x="1468068" y="2218"/>
                    <a:pt x="1472016" y="6165"/>
                  </a:cubicBezTo>
                  <a:cubicBezTo>
                    <a:pt x="1475963" y="10112"/>
                    <a:pt x="1478181" y="15466"/>
                    <a:pt x="1478181" y="21048"/>
                  </a:cubicBezTo>
                  <a:lnTo>
                    <a:pt x="1478181" y="274260"/>
                  </a:lnTo>
                  <a:cubicBezTo>
                    <a:pt x="1478181" y="285885"/>
                    <a:pt x="1468757" y="295308"/>
                    <a:pt x="1457132" y="295308"/>
                  </a:cubicBezTo>
                  <a:lnTo>
                    <a:pt x="21048" y="295308"/>
                  </a:lnTo>
                  <a:cubicBezTo>
                    <a:pt x="15466" y="295308"/>
                    <a:pt x="10112" y="293091"/>
                    <a:pt x="6165" y="289143"/>
                  </a:cubicBezTo>
                  <a:cubicBezTo>
                    <a:pt x="2218" y="285196"/>
                    <a:pt x="0" y="279842"/>
                    <a:pt x="0" y="274260"/>
                  </a:cubicBezTo>
                  <a:lnTo>
                    <a:pt x="0" y="21048"/>
                  </a:lnTo>
                  <a:cubicBezTo>
                    <a:pt x="0" y="15466"/>
                    <a:pt x="2218" y="10112"/>
                    <a:pt x="6165" y="6165"/>
                  </a:cubicBezTo>
                  <a:cubicBezTo>
                    <a:pt x="10112" y="2218"/>
                    <a:pt x="15466" y="0"/>
                    <a:pt x="21048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478181" cy="3334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04982" y="5988931"/>
            <a:ext cx="1199873" cy="1199873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419458" y="6240240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0D3CD3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9494039" y="3907892"/>
            <a:ext cx="7454690" cy="1435198"/>
            <a:chOff x="0" y="0"/>
            <a:chExt cx="1533887" cy="29530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533887" cy="295308"/>
            </a:xfrm>
            <a:custGeom>
              <a:avLst/>
              <a:gdLst/>
              <a:ahLst/>
              <a:cxnLst/>
              <a:rect l="l" t="t" r="r" b="b"/>
              <a:pathLst>
                <a:path w="1533887" h="295308">
                  <a:moveTo>
                    <a:pt x="20284" y="0"/>
                  </a:moveTo>
                  <a:lnTo>
                    <a:pt x="1513603" y="0"/>
                  </a:lnTo>
                  <a:cubicBezTo>
                    <a:pt x="1524806" y="0"/>
                    <a:pt x="1533887" y="9081"/>
                    <a:pt x="1533887" y="20284"/>
                  </a:cubicBezTo>
                  <a:lnTo>
                    <a:pt x="1533887" y="275024"/>
                  </a:lnTo>
                  <a:cubicBezTo>
                    <a:pt x="1533887" y="286227"/>
                    <a:pt x="1524806" y="295308"/>
                    <a:pt x="1513603" y="295308"/>
                  </a:cubicBezTo>
                  <a:lnTo>
                    <a:pt x="20284" y="295308"/>
                  </a:lnTo>
                  <a:cubicBezTo>
                    <a:pt x="14904" y="295308"/>
                    <a:pt x="9745" y="293171"/>
                    <a:pt x="5941" y="289367"/>
                  </a:cubicBezTo>
                  <a:cubicBezTo>
                    <a:pt x="2137" y="285563"/>
                    <a:pt x="0" y="280404"/>
                    <a:pt x="0" y="275024"/>
                  </a:cubicBezTo>
                  <a:lnTo>
                    <a:pt x="0" y="20284"/>
                  </a:lnTo>
                  <a:cubicBezTo>
                    <a:pt x="0" y="9081"/>
                    <a:pt x="9081" y="0"/>
                    <a:pt x="20284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1533887" cy="3334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709447" y="3945387"/>
            <a:ext cx="1199873" cy="1199873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723923" y="4196697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0D3CD3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9494039" y="5908763"/>
            <a:ext cx="7454690" cy="1435198"/>
            <a:chOff x="0" y="0"/>
            <a:chExt cx="1533887" cy="29530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533887" cy="295308"/>
            </a:xfrm>
            <a:custGeom>
              <a:avLst/>
              <a:gdLst/>
              <a:ahLst/>
              <a:cxnLst/>
              <a:rect l="l" t="t" r="r" b="b"/>
              <a:pathLst>
                <a:path w="1533887" h="295308">
                  <a:moveTo>
                    <a:pt x="20284" y="0"/>
                  </a:moveTo>
                  <a:lnTo>
                    <a:pt x="1513603" y="0"/>
                  </a:lnTo>
                  <a:cubicBezTo>
                    <a:pt x="1524806" y="0"/>
                    <a:pt x="1533887" y="9081"/>
                    <a:pt x="1533887" y="20284"/>
                  </a:cubicBezTo>
                  <a:lnTo>
                    <a:pt x="1533887" y="275024"/>
                  </a:lnTo>
                  <a:cubicBezTo>
                    <a:pt x="1533887" y="286227"/>
                    <a:pt x="1524806" y="295308"/>
                    <a:pt x="1513603" y="295308"/>
                  </a:cubicBezTo>
                  <a:lnTo>
                    <a:pt x="20284" y="295308"/>
                  </a:lnTo>
                  <a:cubicBezTo>
                    <a:pt x="14904" y="295308"/>
                    <a:pt x="9745" y="293171"/>
                    <a:pt x="5941" y="289367"/>
                  </a:cubicBezTo>
                  <a:cubicBezTo>
                    <a:pt x="2137" y="285563"/>
                    <a:pt x="0" y="280404"/>
                    <a:pt x="0" y="275024"/>
                  </a:cubicBezTo>
                  <a:lnTo>
                    <a:pt x="0" y="20284"/>
                  </a:lnTo>
                  <a:cubicBezTo>
                    <a:pt x="0" y="9081"/>
                    <a:pt x="9081" y="0"/>
                    <a:pt x="20284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1533887" cy="3334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09447" y="5908763"/>
            <a:ext cx="1199873" cy="1199873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723923" y="6160073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0D3CD3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119642" y="4372460"/>
            <a:ext cx="3966957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795"/>
              </a:lnSpc>
              <a:spcBef>
                <a:spcPct val="0"/>
              </a:spcBef>
            </a:pPr>
            <a:r>
              <a:rPr lang="en-US" sz="4244" b="1" dirty="0" err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Net</a:t>
            </a:r>
            <a:r>
              <a:rPr lang="en-US" sz="4244" b="1" u="none" strike="noStrike" dirty="0" err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toyage</a:t>
            </a:r>
            <a:endParaRPr lang="en-US" sz="4244" b="1" u="none" strike="noStrike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11192048" y="4291655"/>
            <a:ext cx="4962351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95"/>
              </a:lnSpc>
            </a:pPr>
            <a:r>
              <a:rPr lang="en-US" sz="4244" b="1" dirty="0" err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</a:t>
            </a:r>
            <a:r>
              <a:rPr lang="en-US" sz="4244" b="1" u="none" strike="noStrike" dirty="0" err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ormalisation</a:t>
            </a:r>
            <a:endParaRPr lang="en-US" sz="4244" b="1" u="none" strike="noStrike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4795"/>
              </a:lnSpc>
            </a:pPr>
            <a:endParaRPr lang="en-US" sz="4244" b="1" u="none" strike="noStrike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4795"/>
              </a:lnSpc>
            </a:pPr>
            <a:endParaRPr lang="en-US" sz="4244" b="1" u="none" strike="noStrike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2485079" y="6300735"/>
            <a:ext cx="5837516" cy="551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261"/>
              </a:lnSpc>
              <a:spcBef>
                <a:spcPct val="0"/>
              </a:spcBef>
            </a:pPr>
            <a:r>
              <a:rPr lang="en-US" sz="3771" b="1" dirty="0" err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Sépara</a:t>
            </a:r>
            <a:r>
              <a:rPr lang="en-US" sz="3771" b="1" u="none" strike="noStrike" dirty="0" err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tion</a:t>
            </a:r>
            <a:r>
              <a:rPr lang="en-US" sz="3771" b="1" u="none" strike="noStrike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train / test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823027" y="6255455"/>
            <a:ext cx="6211996" cy="551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261"/>
              </a:lnSpc>
              <a:spcBef>
                <a:spcPct val="0"/>
              </a:spcBef>
            </a:pPr>
            <a:r>
              <a:rPr lang="en-US" sz="3771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Ges</a:t>
            </a:r>
            <a:r>
              <a:rPr lang="en-US" sz="3771" b="1" u="none" strike="noStrike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tion du </a:t>
            </a:r>
            <a:r>
              <a:rPr lang="en-US" sz="3771" b="1" u="none" strike="noStrike" dirty="0" err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déséquilibre</a:t>
            </a:r>
            <a:endParaRPr lang="en-US" sz="3771" b="1" u="none" strike="noStrike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13959558" y="6682068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428764" y="8484534"/>
            <a:ext cx="1199873" cy="119987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435203" y="2018410"/>
            <a:ext cx="3086100" cy="186854"/>
            <a:chOff x="0" y="0"/>
            <a:chExt cx="635000" cy="384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" cy="38447"/>
            </a:xfrm>
            <a:custGeom>
              <a:avLst/>
              <a:gdLst/>
              <a:ahLst/>
              <a:cxnLst/>
              <a:rect l="l" t="t" r="r" b="b"/>
              <a:pathLst>
                <a:path w="635000" h="38447">
                  <a:moveTo>
                    <a:pt x="0" y="0"/>
                  </a:moveTo>
                  <a:lnTo>
                    <a:pt x="635000" y="0"/>
                  </a:lnTo>
                  <a:lnTo>
                    <a:pt x="635000" y="38447"/>
                  </a:lnTo>
                  <a:lnTo>
                    <a:pt x="0" y="38447"/>
                  </a:ln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35000" cy="765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28700" y="4740283"/>
            <a:ext cx="7183958" cy="1435198"/>
            <a:chOff x="0" y="0"/>
            <a:chExt cx="1478181" cy="29530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78181" cy="295308"/>
            </a:xfrm>
            <a:custGeom>
              <a:avLst/>
              <a:gdLst/>
              <a:ahLst/>
              <a:cxnLst/>
              <a:rect l="l" t="t" r="r" b="b"/>
              <a:pathLst>
                <a:path w="1478181" h="295308">
                  <a:moveTo>
                    <a:pt x="21048" y="0"/>
                  </a:moveTo>
                  <a:lnTo>
                    <a:pt x="1457132" y="0"/>
                  </a:lnTo>
                  <a:cubicBezTo>
                    <a:pt x="1462715" y="0"/>
                    <a:pt x="1468068" y="2218"/>
                    <a:pt x="1472016" y="6165"/>
                  </a:cubicBezTo>
                  <a:cubicBezTo>
                    <a:pt x="1475963" y="10112"/>
                    <a:pt x="1478181" y="15466"/>
                    <a:pt x="1478181" y="21048"/>
                  </a:cubicBezTo>
                  <a:lnTo>
                    <a:pt x="1478181" y="274260"/>
                  </a:lnTo>
                  <a:cubicBezTo>
                    <a:pt x="1478181" y="285885"/>
                    <a:pt x="1468757" y="295308"/>
                    <a:pt x="1457132" y="295308"/>
                  </a:cubicBezTo>
                  <a:lnTo>
                    <a:pt x="21048" y="295308"/>
                  </a:lnTo>
                  <a:cubicBezTo>
                    <a:pt x="15466" y="295308"/>
                    <a:pt x="10112" y="293091"/>
                    <a:pt x="6165" y="289143"/>
                  </a:cubicBezTo>
                  <a:cubicBezTo>
                    <a:pt x="2218" y="285196"/>
                    <a:pt x="0" y="279842"/>
                    <a:pt x="0" y="274260"/>
                  </a:cubicBezTo>
                  <a:lnTo>
                    <a:pt x="0" y="21048"/>
                  </a:lnTo>
                  <a:cubicBezTo>
                    <a:pt x="0" y="15466"/>
                    <a:pt x="2218" y="10112"/>
                    <a:pt x="6165" y="6165"/>
                  </a:cubicBezTo>
                  <a:cubicBezTo>
                    <a:pt x="10112" y="2218"/>
                    <a:pt x="15466" y="0"/>
                    <a:pt x="21048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478181" cy="3334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35203" y="923669"/>
            <a:ext cx="15508211" cy="10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MODÉLISATION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43239" y="8735844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0" y="9877425"/>
            <a:ext cx="5227506" cy="27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9"/>
              </a:lnSpc>
              <a:spcBef>
                <a:spcPct val="0"/>
              </a:spcBef>
            </a:pPr>
            <a:r>
              <a:rPr lang="en-US" sz="1884" i="1">
                <a:solidFill>
                  <a:srgbClr val="545454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Projet Data Science Master 1 ISI 2025-2026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022762" y="7216190"/>
            <a:ext cx="7920727" cy="1435198"/>
            <a:chOff x="0" y="0"/>
            <a:chExt cx="1629779" cy="29530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629779" cy="295308"/>
            </a:xfrm>
            <a:custGeom>
              <a:avLst/>
              <a:gdLst/>
              <a:ahLst/>
              <a:cxnLst/>
              <a:rect l="l" t="t" r="r" b="b"/>
              <a:pathLst>
                <a:path w="1629779" h="295308">
                  <a:moveTo>
                    <a:pt x="19090" y="0"/>
                  </a:moveTo>
                  <a:lnTo>
                    <a:pt x="1610689" y="0"/>
                  </a:lnTo>
                  <a:cubicBezTo>
                    <a:pt x="1621232" y="0"/>
                    <a:pt x="1629779" y="8547"/>
                    <a:pt x="1629779" y="19090"/>
                  </a:cubicBezTo>
                  <a:lnTo>
                    <a:pt x="1629779" y="276218"/>
                  </a:lnTo>
                  <a:cubicBezTo>
                    <a:pt x="1629779" y="281281"/>
                    <a:pt x="1627768" y="286137"/>
                    <a:pt x="1624188" y="289717"/>
                  </a:cubicBezTo>
                  <a:cubicBezTo>
                    <a:pt x="1620608" y="293297"/>
                    <a:pt x="1615752" y="295308"/>
                    <a:pt x="1610689" y="295308"/>
                  </a:cubicBezTo>
                  <a:lnTo>
                    <a:pt x="19090" y="295308"/>
                  </a:lnTo>
                  <a:cubicBezTo>
                    <a:pt x="14027" y="295308"/>
                    <a:pt x="9172" y="293297"/>
                    <a:pt x="5591" y="289717"/>
                  </a:cubicBezTo>
                  <a:cubicBezTo>
                    <a:pt x="2011" y="286137"/>
                    <a:pt x="0" y="281281"/>
                    <a:pt x="0" y="276218"/>
                  </a:cubicBezTo>
                  <a:lnTo>
                    <a:pt x="0" y="19090"/>
                  </a:lnTo>
                  <a:cubicBezTo>
                    <a:pt x="0" y="14027"/>
                    <a:pt x="2011" y="9172"/>
                    <a:pt x="5591" y="5591"/>
                  </a:cubicBezTo>
                  <a:cubicBezTo>
                    <a:pt x="9172" y="2011"/>
                    <a:pt x="14027" y="0"/>
                    <a:pt x="19090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629779" cy="3334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658611" y="4712747"/>
            <a:ext cx="8821117" cy="1435198"/>
            <a:chOff x="0" y="0"/>
            <a:chExt cx="1815045" cy="2953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815045" cy="295308"/>
            </a:xfrm>
            <a:custGeom>
              <a:avLst/>
              <a:gdLst/>
              <a:ahLst/>
              <a:cxnLst/>
              <a:rect l="l" t="t" r="r" b="b"/>
              <a:pathLst>
                <a:path w="1815045" h="295308">
                  <a:moveTo>
                    <a:pt x="17142" y="0"/>
                  </a:moveTo>
                  <a:lnTo>
                    <a:pt x="1797903" y="0"/>
                  </a:lnTo>
                  <a:cubicBezTo>
                    <a:pt x="1807370" y="0"/>
                    <a:pt x="1815045" y="7675"/>
                    <a:pt x="1815045" y="17142"/>
                  </a:cubicBezTo>
                  <a:lnTo>
                    <a:pt x="1815045" y="278166"/>
                  </a:lnTo>
                  <a:cubicBezTo>
                    <a:pt x="1815045" y="282713"/>
                    <a:pt x="1813239" y="287073"/>
                    <a:pt x="1810024" y="290287"/>
                  </a:cubicBezTo>
                  <a:cubicBezTo>
                    <a:pt x="1806809" y="293502"/>
                    <a:pt x="1802449" y="295308"/>
                    <a:pt x="1797903" y="295308"/>
                  </a:cubicBezTo>
                  <a:lnTo>
                    <a:pt x="17142" y="295308"/>
                  </a:lnTo>
                  <a:cubicBezTo>
                    <a:pt x="12595" y="295308"/>
                    <a:pt x="8235" y="293502"/>
                    <a:pt x="5021" y="290287"/>
                  </a:cubicBezTo>
                  <a:cubicBezTo>
                    <a:pt x="1806" y="287073"/>
                    <a:pt x="0" y="282713"/>
                    <a:pt x="0" y="278166"/>
                  </a:cubicBezTo>
                  <a:lnTo>
                    <a:pt x="0" y="17142"/>
                  </a:lnTo>
                  <a:cubicBezTo>
                    <a:pt x="0" y="12595"/>
                    <a:pt x="1806" y="8235"/>
                    <a:pt x="5021" y="5021"/>
                  </a:cubicBezTo>
                  <a:cubicBezTo>
                    <a:pt x="8235" y="1806"/>
                    <a:pt x="12595" y="0"/>
                    <a:pt x="17142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1815045" cy="3334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085181" y="5167790"/>
            <a:ext cx="4489364" cy="544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61"/>
              </a:lnSpc>
              <a:spcBef>
                <a:spcPct val="0"/>
              </a:spcBef>
            </a:pPr>
            <a:r>
              <a:rPr lang="en-US" sz="3771" b="1" u="none" strike="noStrik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Logistic Regression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548276" y="5167790"/>
            <a:ext cx="7104856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61"/>
              </a:lnSpc>
              <a:spcBef>
                <a:spcPct val="0"/>
              </a:spcBef>
            </a:pPr>
            <a:r>
              <a:rPr lang="en-US" sz="3771" b="1" u="none" strike="noStrike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Support vector machine (SVM)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662824" y="7692216"/>
            <a:ext cx="6384687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61"/>
              </a:lnSpc>
              <a:spcBef>
                <a:spcPct val="0"/>
              </a:spcBef>
            </a:pPr>
            <a:r>
              <a:rPr lang="en-US" sz="3771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K-nearest Neighbors (KNN</a:t>
            </a:r>
            <a:r>
              <a:rPr lang="en-US" sz="3771" b="1" u="none" strike="noStrike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239285" y="3022261"/>
            <a:ext cx="5231765" cy="1052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79"/>
              </a:lnSpc>
              <a:spcBef>
                <a:spcPct val="0"/>
              </a:spcBef>
            </a:pPr>
            <a:r>
              <a:rPr lang="en-US" sz="61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Classification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13959558" y="6682068"/>
            <a:ext cx="4285209" cy="3604932"/>
          </a:xfrm>
          <a:custGeom>
            <a:avLst/>
            <a:gdLst/>
            <a:ahLst/>
            <a:cxnLst/>
            <a:rect l="l" t="t" r="r" b="b"/>
            <a:pathLst>
              <a:path w="4285209" h="3604932">
                <a:moveTo>
                  <a:pt x="0" y="0"/>
                </a:moveTo>
                <a:lnTo>
                  <a:pt x="4285209" y="0"/>
                </a:lnTo>
                <a:lnTo>
                  <a:pt x="4285209" y="3604932"/>
                </a:lnTo>
                <a:lnTo>
                  <a:pt x="0" y="36049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428764" y="8484534"/>
            <a:ext cx="1199873" cy="119987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435203" y="2018410"/>
            <a:ext cx="3086100" cy="186854"/>
            <a:chOff x="0" y="0"/>
            <a:chExt cx="635000" cy="384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" cy="38447"/>
            </a:xfrm>
            <a:custGeom>
              <a:avLst/>
              <a:gdLst/>
              <a:ahLst/>
              <a:cxnLst/>
              <a:rect l="l" t="t" r="r" b="b"/>
              <a:pathLst>
                <a:path w="635000" h="38447">
                  <a:moveTo>
                    <a:pt x="0" y="0"/>
                  </a:moveTo>
                  <a:lnTo>
                    <a:pt x="635000" y="0"/>
                  </a:lnTo>
                  <a:lnTo>
                    <a:pt x="635000" y="38447"/>
                  </a:lnTo>
                  <a:lnTo>
                    <a:pt x="0" y="38447"/>
                  </a:ln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35000" cy="765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213689" y="3849892"/>
            <a:ext cx="12930858" cy="1435198"/>
            <a:chOff x="0" y="0"/>
            <a:chExt cx="2660670" cy="29530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660670" cy="295308"/>
            </a:xfrm>
            <a:custGeom>
              <a:avLst/>
              <a:gdLst/>
              <a:ahLst/>
              <a:cxnLst/>
              <a:rect l="l" t="t" r="r" b="b"/>
              <a:pathLst>
                <a:path w="2660670" h="295308">
                  <a:moveTo>
                    <a:pt x="11694" y="0"/>
                  </a:moveTo>
                  <a:lnTo>
                    <a:pt x="2648977" y="0"/>
                  </a:lnTo>
                  <a:cubicBezTo>
                    <a:pt x="2655435" y="0"/>
                    <a:pt x="2660670" y="5235"/>
                    <a:pt x="2660670" y="11694"/>
                  </a:cubicBezTo>
                  <a:lnTo>
                    <a:pt x="2660670" y="283614"/>
                  </a:lnTo>
                  <a:cubicBezTo>
                    <a:pt x="2660670" y="290073"/>
                    <a:pt x="2655435" y="295308"/>
                    <a:pt x="2648977" y="295308"/>
                  </a:cubicBezTo>
                  <a:lnTo>
                    <a:pt x="11694" y="295308"/>
                  </a:lnTo>
                  <a:cubicBezTo>
                    <a:pt x="5235" y="295308"/>
                    <a:pt x="0" y="290073"/>
                    <a:pt x="0" y="283614"/>
                  </a:cubicBezTo>
                  <a:lnTo>
                    <a:pt x="0" y="11694"/>
                  </a:lnTo>
                  <a:cubicBezTo>
                    <a:pt x="0" y="5235"/>
                    <a:pt x="5235" y="0"/>
                    <a:pt x="11694" y="0"/>
                  </a:cubicBezTo>
                  <a:close/>
                </a:path>
              </a:pathLst>
            </a:custGeom>
            <a:solidFill>
              <a:srgbClr val="0D3CD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2660670" cy="3334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35203" y="923669"/>
            <a:ext cx="15508211" cy="10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ÉVALUATION DES MODÈLES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43239" y="8735844"/>
            <a:ext cx="1113905" cy="62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3"/>
              </a:lnSpc>
            </a:pPr>
            <a:r>
              <a:rPr lang="en-US" sz="372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0" y="9877425"/>
            <a:ext cx="5227506" cy="27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9"/>
              </a:lnSpc>
              <a:spcBef>
                <a:spcPct val="0"/>
              </a:spcBef>
            </a:pPr>
            <a:r>
              <a:rPr lang="en-US" sz="1884" i="1">
                <a:solidFill>
                  <a:srgbClr val="545454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Projet Data Science Master 1 ISI 2025-2026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69813" y="5466065"/>
            <a:ext cx="5374187" cy="3794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772" lvl="1" indent="-388886" algn="l">
              <a:lnSpc>
                <a:spcPts val="5043"/>
              </a:lnSpc>
              <a:spcBef>
                <a:spcPct val="0"/>
              </a:spcBef>
              <a:buFont typeface="Arial"/>
              <a:buChar char="•"/>
            </a:pPr>
            <a:r>
              <a:rPr lang="en-US" sz="36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Accuracy</a:t>
            </a:r>
          </a:p>
          <a:p>
            <a:pPr marL="777772" lvl="1" indent="-388886" algn="l">
              <a:lnSpc>
                <a:spcPts val="5043"/>
              </a:lnSpc>
              <a:spcBef>
                <a:spcPct val="0"/>
              </a:spcBef>
              <a:buFont typeface="Arial"/>
              <a:buChar char="•"/>
            </a:pPr>
            <a:r>
              <a:rPr lang="en-US" sz="36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Precision</a:t>
            </a:r>
          </a:p>
          <a:p>
            <a:pPr marL="777772" lvl="1" indent="-388886" algn="l">
              <a:lnSpc>
                <a:spcPts val="5043"/>
              </a:lnSpc>
              <a:spcBef>
                <a:spcPct val="0"/>
              </a:spcBef>
              <a:buFont typeface="Arial"/>
              <a:buChar char="•"/>
            </a:pPr>
            <a:r>
              <a:rPr lang="en-US" sz="36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Recall</a:t>
            </a:r>
          </a:p>
          <a:p>
            <a:pPr marL="777772" lvl="1" indent="-388886" algn="l">
              <a:lnSpc>
                <a:spcPts val="5043"/>
              </a:lnSpc>
              <a:spcBef>
                <a:spcPct val="0"/>
              </a:spcBef>
              <a:buFont typeface="Arial"/>
              <a:buChar char="•"/>
            </a:pPr>
            <a:r>
              <a:rPr lang="en-US" sz="36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F1-score</a:t>
            </a:r>
          </a:p>
          <a:p>
            <a:pPr marL="777772" lvl="1" indent="-388886" algn="l">
              <a:lnSpc>
                <a:spcPts val="5043"/>
              </a:lnSpc>
              <a:spcBef>
                <a:spcPct val="0"/>
              </a:spcBef>
              <a:buFont typeface="Arial"/>
              <a:buChar char="•"/>
            </a:pPr>
            <a:r>
              <a:rPr lang="en-US" sz="36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ROC</a:t>
            </a:r>
          </a:p>
          <a:p>
            <a:pPr algn="l">
              <a:lnSpc>
                <a:spcPts val="5043"/>
              </a:lnSpc>
              <a:spcBef>
                <a:spcPct val="0"/>
              </a:spcBef>
            </a:pPr>
            <a:endParaRPr lang="en-US" sz="3602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2613753" y="4241348"/>
            <a:ext cx="12586756" cy="563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0"/>
              </a:lnSpc>
              <a:spcBef>
                <a:spcPct val="0"/>
              </a:spcBef>
            </a:pPr>
            <a:r>
              <a:rPr lang="en-US" sz="332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RÉSULTATS MÉTRIQUES DE PERFORMANCE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19918" y="2795512"/>
            <a:ext cx="20127836" cy="11161800"/>
          </a:xfrm>
          <a:custGeom>
            <a:avLst/>
            <a:gdLst/>
            <a:ahLst/>
            <a:cxnLst/>
            <a:rect l="l" t="t" r="r" b="b"/>
            <a:pathLst>
              <a:path w="20127836" h="11161800">
                <a:moveTo>
                  <a:pt x="0" y="0"/>
                </a:moveTo>
                <a:lnTo>
                  <a:pt x="20127836" y="0"/>
                </a:lnTo>
                <a:lnTo>
                  <a:pt x="20127836" y="11161800"/>
                </a:lnTo>
                <a:lnTo>
                  <a:pt x="0" y="11161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602649" y="3516258"/>
            <a:ext cx="21658947" cy="2228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959"/>
              </a:lnSpc>
              <a:spcBef>
                <a:spcPct val="0"/>
              </a:spcBef>
            </a:pPr>
            <a:r>
              <a:rPr lang="en-US" sz="6399" b="1" u="none" strike="noStrik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LIMITES &amp; RECOMMANDATIONS</a:t>
            </a:r>
          </a:p>
          <a:p>
            <a:pPr marL="0" lvl="0" indent="0" algn="l">
              <a:lnSpc>
                <a:spcPts val="8959"/>
              </a:lnSpc>
              <a:spcBef>
                <a:spcPct val="0"/>
              </a:spcBef>
            </a:pPr>
            <a:endParaRPr lang="en-US" sz="6399" b="1" u="none" strike="noStrike">
              <a:solidFill>
                <a:srgbClr val="1C1C1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191</Words>
  <Application>Microsoft Office PowerPoint</Application>
  <PresentationFormat>Personnalisé</PresentationFormat>
  <Paragraphs>59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7" baseType="lpstr">
      <vt:lpstr>Canva Sans Italics</vt:lpstr>
      <vt:lpstr>Canva Sans Bold</vt:lpstr>
      <vt:lpstr>Calibri</vt:lpstr>
      <vt:lpstr>Montserrat</vt:lpstr>
      <vt:lpstr>Montserrat Bold</vt:lpstr>
      <vt:lpstr>Canva Sans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Data Science Powerpoint</dc:title>
  <dc:creator>HP</dc:creator>
  <cp:lastModifiedBy>Astrel Zalla</cp:lastModifiedBy>
  <cp:revision>5</cp:revision>
  <dcterms:created xsi:type="dcterms:W3CDTF">2006-08-16T00:00:00Z</dcterms:created>
  <dcterms:modified xsi:type="dcterms:W3CDTF">2026-02-02T21:13:11Z</dcterms:modified>
  <dc:identifier>DAHAH0ryc_s</dc:identifier>
</cp:coreProperties>
</file>