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Canva Sans Italics" panose="020B0604020202020204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Montserrat Bold" panose="000008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9918" y="3590669"/>
            <a:ext cx="20127836" cy="11161800"/>
          </a:xfrm>
          <a:custGeom>
            <a:avLst/>
            <a:gdLst/>
            <a:ahLst/>
            <a:cxnLst/>
            <a:rect l="l" t="t" r="r" b="b"/>
            <a:pathLst>
              <a:path w="20127836" h="11161800">
                <a:moveTo>
                  <a:pt x="0" y="0"/>
                </a:moveTo>
                <a:lnTo>
                  <a:pt x="20127836" y="0"/>
                </a:lnTo>
                <a:lnTo>
                  <a:pt x="20127836" y="11161800"/>
                </a:lnTo>
                <a:lnTo>
                  <a:pt x="0" y="1116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96552" y="7512413"/>
            <a:ext cx="6247448" cy="2085123"/>
            <a:chOff x="0" y="-57151"/>
            <a:chExt cx="8329930" cy="2780164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1"/>
              <a:ext cx="8329930" cy="27801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12"/>
                </a:lnSpc>
              </a:pPr>
              <a:r>
                <a:rPr lang="en-US" sz="2366" b="1" dirty="0">
                  <a:solidFill>
                    <a:srgbClr val="1C1C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REALISE PAR :</a:t>
              </a:r>
            </a:p>
            <a:p>
              <a:pPr algn="l">
                <a:lnSpc>
                  <a:spcPts val="3312"/>
                </a:lnSpc>
              </a:pPr>
              <a:r>
                <a:rPr lang="en-US" sz="2366" b="1" dirty="0">
                  <a:solidFill>
                    <a:srgbClr val="1C1C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  OKAMBA GRACE CALEB</a:t>
              </a:r>
            </a:p>
            <a:p>
              <a:pPr algn="l">
                <a:lnSpc>
                  <a:spcPts val="3312"/>
                </a:lnSpc>
              </a:pPr>
              <a:r>
                <a:rPr lang="en-US" sz="2366" b="1" dirty="0">
                  <a:solidFill>
                    <a:srgbClr val="1C1C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  ZALLA NGODI ASTREL DU CHEMIN</a:t>
              </a:r>
            </a:p>
            <a:p>
              <a:pPr algn="l">
                <a:lnSpc>
                  <a:spcPts val="3312"/>
                </a:lnSpc>
              </a:pPr>
              <a:r>
                <a:rPr lang="en-US" sz="2366" b="1" dirty="0">
                  <a:solidFill>
                    <a:srgbClr val="1C1C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  DIARRASSOUBA NASSONG AMINATA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674382"/>
              <a:ext cx="329634" cy="329634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1A60CE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12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1231970"/>
              <a:ext cx="329634" cy="329634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1A60CE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12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790204"/>
              <a:ext cx="329634" cy="32963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1A60CE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12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3679852" y="3590669"/>
            <a:ext cx="11210615" cy="2320293"/>
            <a:chOff x="0" y="0"/>
            <a:chExt cx="2306711" cy="4774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06711" cy="477427"/>
            </a:xfrm>
            <a:custGeom>
              <a:avLst/>
              <a:gdLst/>
              <a:ahLst/>
              <a:cxnLst/>
              <a:rect l="l" t="t" r="r" b="b"/>
              <a:pathLst>
                <a:path w="2306711" h="477427">
                  <a:moveTo>
                    <a:pt x="13488" y="0"/>
                  </a:moveTo>
                  <a:lnTo>
                    <a:pt x="2293223" y="0"/>
                  </a:lnTo>
                  <a:cubicBezTo>
                    <a:pt x="2300672" y="0"/>
                    <a:pt x="2306711" y="6039"/>
                    <a:pt x="2306711" y="13488"/>
                  </a:cubicBezTo>
                  <a:lnTo>
                    <a:pt x="2306711" y="463939"/>
                  </a:lnTo>
                  <a:cubicBezTo>
                    <a:pt x="2306711" y="467516"/>
                    <a:pt x="2305290" y="470946"/>
                    <a:pt x="2302760" y="473476"/>
                  </a:cubicBezTo>
                  <a:cubicBezTo>
                    <a:pt x="2300231" y="476006"/>
                    <a:pt x="2296800" y="477427"/>
                    <a:pt x="2293223" y="477427"/>
                  </a:cubicBezTo>
                  <a:lnTo>
                    <a:pt x="13488" y="477427"/>
                  </a:lnTo>
                  <a:cubicBezTo>
                    <a:pt x="6039" y="477427"/>
                    <a:pt x="0" y="471388"/>
                    <a:pt x="0" y="463939"/>
                  </a:cubicBezTo>
                  <a:lnTo>
                    <a:pt x="0" y="13488"/>
                  </a:lnTo>
                  <a:cubicBezTo>
                    <a:pt x="0" y="6039"/>
                    <a:pt x="6039" y="0"/>
                    <a:pt x="13488" y="0"/>
                  </a:cubicBezTo>
                  <a:close/>
                </a:path>
              </a:pathLst>
            </a:custGeom>
            <a:solidFill>
              <a:srgbClr val="1A60C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306711" cy="515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947723" y="3708300"/>
            <a:ext cx="10392553" cy="197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26"/>
              </a:lnSpc>
              <a:spcBef>
                <a:spcPct val="0"/>
              </a:spcBef>
            </a:pPr>
            <a:r>
              <a:rPr lang="en-US" sz="56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Dét</a:t>
            </a:r>
            <a:r>
              <a:rPr lang="en-US" sz="5662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ection de fraude sur les transactions bancaires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051" y="1294381"/>
            <a:ext cx="16979898" cy="217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35"/>
              </a:lnSpc>
            </a:pPr>
            <a:r>
              <a:rPr lang="en-US" sz="1264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Projet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517397" y="4160180"/>
            <a:ext cx="814172" cy="814172"/>
          </a:xfrm>
          <a:custGeom>
            <a:avLst/>
            <a:gdLst/>
            <a:ahLst/>
            <a:cxnLst/>
            <a:rect l="l" t="t" r="r" b="b"/>
            <a:pathLst>
              <a:path w="814172" h="814172">
                <a:moveTo>
                  <a:pt x="0" y="0"/>
                </a:moveTo>
                <a:lnTo>
                  <a:pt x="814172" y="0"/>
                </a:lnTo>
                <a:lnTo>
                  <a:pt x="814172" y="814171"/>
                </a:lnTo>
                <a:lnTo>
                  <a:pt x="0" y="8141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OBJECTIFS DU PROJET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1501" y="4219276"/>
            <a:ext cx="10119102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3"/>
              </a:lnSpc>
            </a:pPr>
            <a:r>
              <a:rPr lang="en-US" sz="372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Comprendre le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1501" y="5836077"/>
            <a:ext cx="10119102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3"/>
              </a:lnSpc>
            </a:pPr>
            <a:r>
              <a:rPr lang="en-US" sz="372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Analyser les transactions</a:t>
            </a:r>
          </a:p>
        </p:txBody>
      </p:sp>
      <p:sp>
        <p:nvSpPr>
          <p:cNvPr id="16" name="Freeform 16"/>
          <p:cNvSpPr/>
          <p:nvPr/>
        </p:nvSpPr>
        <p:spPr>
          <a:xfrm>
            <a:off x="3517397" y="5776981"/>
            <a:ext cx="814172" cy="814172"/>
          </a:xfrm>
          <a:custGeom>
            <a:avLst/>
            <a:gdLst/>
            <a:ahLst/>
            <a:cxnLst/>
            <a:rect l="l" t="t" r="r" b="b"/>
            <a:pathLst>
              <a:path w="814172" h="814172">
                <a:moveTo>
                  <a:pt x="0" y="0"/>
                </a:moveTo>
                <a:lnTo>
                  <a:pt x="814172" y="0"/>
                </a:lnTo>
                <a:lnTo>
                  <a:pt x="814172" y="814171"/>
                </a:lnTo>
                <a:lnTo>
                  <a:pt x="0" y="8141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17397" y="7391252"/>
            <a:ext cx="814172" cy="814172"/>
          </a:xfrm>
          <a:custGeom>
            <a:avLst/>
            <a:gdLst/>
            <a:ahLst/>
            <a:cxnLst/>
            <a:rect l="l" t="t" r="r" b="b"/>
            <a:pathLst>
              <a:path w="814172" h="814172">
                <a:moveTo>
                  <a:pt x="0" y="0"/>
                </a:moveTo>
                <a:lnTo>
                  <a:pt x="814172" y="0"/>
                </a:lnTo>
                <a:lnTo>
                  <a:pt x="814172" y="814172"/>
                </a:lnTo>
                <a:lnTo>
                  <a:pt x="0" y="814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651501" y="7450349"/>
            <a:ext cx="10119102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3"/>
              </a:lnSpc>
            </a:pPr>
            <a:r>
              <a:rPr lang="en-US" sz="372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Détecter les fraudes bancaires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COMPRÉHENSION DES DONNÉES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8636" y="3964949"/>
            <a:ext cx="6830232" cy="47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16"/>
              </a:lnSpc>
            </a:pPr>
            <a:r>
              <a:rPr lang="en-US" sz="3289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 DU DATASET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8636" y="5162550"/>
            <a:ext cx="8582164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50"/>
              </a:lnSpc>
              <a:spcBef>
                <a:spcPct val="0"/>
              </a:spcBef>
            </a:pPr>
            <a:r>
              <a:rPr lang="en-US" sz="32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: Credit Card Fraud Detection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28636" y="6061398"/>
            <a:ext cx="7058164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50"/>
              </a:lnSpc>
              <a:spcBef>
                <a:spcPct val="0"/>
              </a:spcBef>
            </a:pPr>
            <a:r>
              <a:rPr lang="en-US" sz="323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284 807 Transactions </a:t>
            </a:r>
            <a:r>
              <a:rPr lang="en-US" sz="3230" b="1" u="none" strike="noStrike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bancaires</a:t>
            </a:r>
            <a:endParaRPr lang="en-US" sz="3230" b="1" u="none" strike="noStrike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28636" y="6957654"/>
            <a:ext cx="3415116" cy="472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50"/>
              </a:lnSpc>
              <a:spcBef>
                <a:spcPct val="0"/>
              </a:spcBef>
            </a:pPr>
            <a:r>
              <a:rPr lang="en-US" sz="323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 Variables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43752" y="8214954"/>
            <a:ext cx="7689878" cy="47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  <a:spcBef>
                <a:spcPct val="0"/>
              </a:spcBef>
            </a:pPr>
            <a:r>
              <a:rPr lang="en-US" sz="27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Variable cible : Class (0 = Normal, 1 = Fraude)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 DE PROBLÈME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48966" y="5118015"/>
            <a:ext cx="1199444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33"/>
              </a:lnSpc>
              <a:spcBef>
                <a:spcPct val="0"/>
              </a:spcBef>
            </a:pPr>
            <a:r>
              <a:rPr lang="fr-FR" sz="4400" dirty="0"/>
              <a:t>Classification binaire</a:t>
            </a:r>
            <a:endParaRPr lang="en-US" sz="427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EXPLORATOIRE (EDA)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54934" y="3817974"/>
            <a:ext cx="6213954" cy="58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70"/>
              </a:lnSpc>
              <a:spcBef>
                <a:spcPct val="0"/>
              </a:spcBef>
            </a:pPr>
            <a:r>
              <a:rPr lang="en-US" sz="40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Statistiques</a:t>
            </a:r>
            <a:r>
              <a:rPr lang="en-US" sz="4045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descriptives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0460" y="5319518"/>
            <a:ext cx="446674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570"/>
              </a:lnSpc>
              <a:spcBef>
                <a:spcPct val="0"/>
              </a:spcBef>
            </a:pPr>
            <a:r>
              <a:rPr lang="en-US" sz="4045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Visualisa</a:t>
            </a:r>
            <a:r>
              <a:rPr lang="en-US" sz="4045" b="1" u="none" strike="noStrike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tions</a:t>
            </a:r>
            <a:endParaRPr lang="en-US" sz="4045" b="1" u="none" strike="noStrike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29349" y="8503939"/>
            <a:ext cx="6130209" cy="57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70"/>
              </a:lnSpc>
              <a:spcBef>
                <a:spcPct val="0"/>
              </a:spcBef>
            </a:pPr>
            <a:r>
              <a:rPr lang="en-US" sz="40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Déséquilibre</a:t>
            </a:r>
            <a:r>
              <a:rPr lang="en-US" sz="4045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 classes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93728" y="6821062"/>
            <a:ext cx="5006814" cy="58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0"/>
              </a:lnSpc>
              <a:spcBef>
                <a:spcPct val="0"/>
              </a:spcBef>
            </a:pPr>
            <a:r>
              <a:rPr lang="en-US" sz="40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Détection</a:t>
            </a:r>
            <a:r>
              <a:rPr lang="en-US" sz="4045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d’outliers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574" y="3935427"/>
            <a:ext cx="7183958" cy="1435198"/>
            <a:chOff x="0" y="0"/>
            <a:chExt cx="1478181" cy="2953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8181" cy="295308"/>
            </a:xfrm>
            <a:custGeom>
              <a:avLst/>
              <a:gdLst/>
              <a:ahLst/>
              <a:cxnLst/>
              <a:rect l="l" t="t" r="r" b="b"/>
              <a:pathLst>
                <a:path w="1478181" h="295308">
                  <a:moveTo>
                    <a:pt x="21048" y="0"/>
                  </a:moveTo>
                  <a:lnTo>
                    <a:pt x="1457132" y="0"/>
                  </a:lnTo>
                  <a:cubicBezTo>
                    <a:pt x="1462715" y="0"/>
                    <a:pt x="1468068" y="2218"/>
                    <a:pt x="1472016" y="6165"/>
                  </a:cubicBezTo>
                  <a:cubicBezTo>
                    <a:pt x="1475963" y="10112"/>
                    <a:pt x="1478181" y="15466"/>
                    <a:pt x="1478181" y="21048"/>
                  </a:cubicBezTo>
                  <a:lnTo>
                    <a:pt x="1478181" y="274260"/>
                  </a:lnTo>
                  <a:cubicBezTo>
                    <a:pt x="1478181" y="285885"/>
                    <a:pt x="1468757" y="295308"/>
                    <a:pt x="1457132" y="295308"/>
                  </a:cubicBezTo>
                  <a:lnTo>
                    <a:pt x="21048" y="295308"/>
                  </a:lnTo>
                  <a:cubicBezTo>
                    <a:pt x="15466" y="295308"/>
                    <a:pt x="10112" y="293091"/>
                    <a:pt x="6165" y="289143"/>
                  </a:cubicBezTo>
                  <a:cubicBezTo>
                    <a:pt x="2218" y="285196"/>
                    <a:pt x="0" y="279842"/>
                    <a:pt x="0" y="274260"/>
                  </a:cubicBezTo>
                  <a:lnTo>
                    <a:pt x="0" y="21048"/>
                  </a:lnTo>
                  <a:cubicBezTo>
                    <a:pt x="0" y="15466"/>
                    <a:pt x="2218" y="10112"/>
                    <a:pt x="6165" y="6165"/>
                  </a:cubicBezTo>
                  <a:cubicBezTo>
                    <a:pt x="10112" y="2218"/>
                    <a:pt x="15466" y="0"/>
                    <a:pt x="21048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78181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PRÉPARATION DES DONNÉES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04982" y="3972922"/>
            <a:ext cx="1199873" cy="119987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19458" y="4224232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0D3C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89574" y="5951436"/>
            <a:ext cx="7183958" cy="1435198"/>
            <a:chOff x="0" y="0"/>
            <a:chExt cx="1478181" cy="2953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78181" cy="295308"/>
            </a:xfrm>
            <a:custGeom>
              <a:avLst/>
              <a:gdLst/>
              <a:ahLst/>
              <a:cxnLst/>
              <a:rect l="l" t="t" r="r" b="b"/>
              <a:pathLst>
                <a:path w="1478181" h="295308">
                  <a:moveTo>
                    <a:pt x="21048" y="0"/>
                  </a:moveTo>
                  <a:lnTo>
                    <a:pt x="1457132" y="0"/>
                  </a:lnTo>
                  <a:cubicBezTo>
                    <a:pt x="1462715" y="0"/>
                    <a:pt x="1468068" y="2218"/>
                    <a:pt x="1472016" y="6165"/>
                  </a:cubicBezTo>
                  <a:cubicBezTo>
                    <a:pt x="1475963" y="10112"/>
                    <a:pt x="1478181" y="15466"/>
                    <a:pt x="1478181" y="21048"/>
                  </a:cubicBezTo>
                  <a:lnTo>
                    <a:pt x="1478181" y="274260"/>
                  </a:lnTo>
                  <a:cubicBezTo>
                    <a:pt x="1478181" y="285885"/>
                    <a:pt x="1468757" y="295308"/>
                    <a:pt x="1457132" y="295308"/>
                  </a:cubicBezTo>
                  <a:lnTo>
                    <a:pt x="21048" y="295308"/>
                  </a:lnTo>
                  <a:cubicBezTo>
                    <a:pt x="15466" y="295308"/>
                    <a:pt x="10112" y="293091"/>
                    <a:pt x="6165" y="289143"/>
                  </a:cubicBezTo>
                  <a:cubicBezTo>
                    <a:pt x="2218" y="285196"/>
                    <a:pt x="0" y="279842"/>
                    <a:pt x="0" y="274260"/>
                  </a:cubicBezTo>
                  <a:lnTo>
                    <a:pt x="0" y="21048"/>
                  </a:lnTo>
                  <a:cubicBezTo>
                    <a:pt x="0" y="15466"/>
                    <a:pt x="2218" y="10112"/>
                    <a:pt x="6165" y="6165"/>
                  </a:cubicBezTo>
                  <a:cubicBezTo>
                    <a:pt x="10112" y="2218"/>
                    <a:pt x="15466" y="0"/>
                    <a:pt x="21048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478181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4982" y="5988931"/>
            <a:ext cx="1199873" cy="119987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19458" y="6240240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0D3C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94039" y="3907892"/>
            <a:ext cx="7454690" cy="1435198"/>
            <a:chOff x="0" y="0"/>
            <a:chExt cx="1533887" cy="2953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33887" cy="295308"/>
            </a:xfrm>
            <a:custGeom>
              <a:avLst/>
              <a:gdLst/>
              <a:ahLst/>
              <a:cxnLst/>
              <a:rect l="l" t="t" r="r" b="b"/>
              <a:pathLst>
                <a:path w="1533887" h="295308">
                  <a:moveTo>
                    <a:pt x="20284" y="0"/>
                  </a:moveTo>
                  <a:lnTo>
                    <a:pt x="1513603" y="0"/>
                  </a:lnTo>
                  <a:cubicBezTo>
                    <a:pt x="1524806" y="0"/>
                    <a:pt x="1533887" y="9081"/>
                    <a:pt x="1533887" y="20284"/>
                  </a:cubicBezTo>
                  <a:lnTo>
                    <a:pt x="1533887" y="275024"/>
                  </a:lnTo>
                  <a:cubicBezTo>
                    <a:pt x="1533887" y="286227"/>
                    <a:pt x="1524806" y="295308"/>
                    <a:pt x="1513603" y="295308"/>
                  </a:cubicBezTo>
                  <a:lnTo>
                    <a:pt x="20284" y="295308"/>
                  </a:lnTo>
                  <a:cubicBezTo>
                    <a:pt x="14904" y="295308"/>
                    <a:pt x="9745" y="293171"/>
                    <a:pt x="5941" y="289367"/>
                  </a:cubicBezTo>
                  <a:cubicBezTo>
                    <a:pt x="2137" y="285563"/>
                    <a:pt x="0" y="280404"/>
                    <a:pt x="0" y="275024"/>
                  </a:cubicBezTo>
                  <a:lnTo>
                    <a:pt x="0" y="20284"/>
                  </a:lnTo>
                  <a:cubicBezTo>
                    <a:pt x="0" y="9081"/>
                    <a:pt x="9081" y="0"/>
                    <a:pt x="20284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533887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709447" y="3945387"/>
            <a:ext cx="1199873" cy="1199873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723923" y="419669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0D3C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494039" y="5908763"/>
            <a:ext cx="7454690" cy="1435198"/>
            <a:chOff x="0" y="0"/>
            <a:chExt cx="1533887" cy="2953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33887" cy="295308"/>
            </a:xfrm>
            <a:custGeom>
              <a:avLst/>
              <a:gdLst/>
              <a:ahLst/>
              <a:cxnLst/>
              <a:rect l="l" t="t" r="r" b="b"/>
              <a:pathLst>
                <a:path w="1533887" h="295308">
                  <a:moveTo>
                    <a:pt x="20284" y="0"/>
                  </a:moveTo>
                  <a:lnTo>
                    <a:pt x="1513603" y="0"/>
                  </a:lnTo>
                  <a:cubicBezTo>
                    <a:pt x="1524806" y="0"/>
                    <a:pt x="1533887" y="9081"/>
                    <a:pt x="1533887" y="20284"/>
                  </a:cubicBezTo>
                  <a:lnTo>
                    <a:pt x="1533887" y="275024"/>
                  </a:lnTo>
                  <a:cubicBezTo>
                    <a:pt x="1533887" y="286227"/>
                    <a:pt x="1524806" y="295308"/>
                    <a:pt x="1513603" y="295308"/>
                  </a:cubicBezTo>
                  <a:lnTo>
                    <a:pt x="20284" y="295308"/>
                  </a:lnTo>
                  <a:cubicBezTo>
                    <a:pt x="14904" y="295308"/>
                    <a:pt x="9745" y="293171"/>
                    <a:pt x="5941" y="289367"/>
                  </a:cubicBezTo>
                  <a:cubicBezTo>
                    <a:pt x="2137" y="285563"/>
                    <a:pt x="0" y="280404"/>
                    <a:pt x="0" y="275024"/>
                  </a:cubicBezTo>
                  <a:lnTo>
                    <a:pt x="0" y="20284"/>
                  </a:lnTo>
                  <a:cubicBezTo>
                    <a:pt x="0" y="9081"/>
                    <a:pt x="9081" y="0"/>
                    <a:pt x="20284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533887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09447" y="5908763"/>
            <a:ext cx="1199873" cy="119987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723923" y="6160073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0D3C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19642" y="4372460"/>
            <a:ext cx="396695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795"/>
              </a:lnSpc>
              <a:spcBef>
                <a:spcPct val="0"/>
              </a:spcBef>
            </a:pPr>
            <a:r>
              <a:rPr lang="en-US" sz="4244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</a:t>
            </a:r>
            <a:r>
              <a:rPr lang="en-US" sz="4244" b="1" u="none" strike="noStrike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toyage</a:t>
            </a:r>
            <a:endParaRPr lang="en-US" sz="4244" b="1" u="none" strike="noStrike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192048" y="4291655"/>
            <a:ext cx="496235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5"/>
              </a:lnSpc>
            </a:pPr>
            <a:r>
              <a:rPr lang="en-US" sz="4244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4244" b="1" u="none" strike="noStrike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ormalisation</a:t>
            </a:r>
            <a:endParaRPr lang="en-US" sz="4244" b="1" u="none" strike="noStrike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795"/>
              </a:lnSpc>
            </a:pPr>
            <a:endParaRPr lang="en-US" sz="4244" b="1" u="none" strike="noStrike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795"/>
              </a:lnSpc>
            </a:pPr>
            <a:endParaRPr lang="en-US" sz="4244" b="1" u="none" strike="noStrike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485079" y="6300735"/>
            <a:ext cx="583751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61"/>
              </a:lnSpc>
              <a:spcBef>
                <a:spcPct val="0"/>
              </a:spcBef>
            </a:pPr>
            <a:r>
              <a:rPr lang="en-US" sz="3771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Sépara</a:t>
            </a:r>
            <a:r>
              <a:rPr lang="en-US" sz="3771" b="1" u="none" strike="noStrike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</a:t>
            </a:r>
            <a:r>
              <a:rPr lang="en-US" sz="3771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train / test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23027" y="6255455"/>
            <a:ext cx="621199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61"/>
              </a:lnSpc>
              <a:spcBef>
                <a:spcPct val="0"/>
              </a:spcBef>
            </a:pPr>
            <a:r>
              <a:rPr lang="en-US" sz="3771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</a:t>
            </a:r>
            <a:r>
              <a:rPr lang="en-US" sz="3771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 du </a:t>
            </a:r>
            <a:r>
              <a:rPr lang="en-US" sz="3771" b="1" u="none" strike="noStrike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déséquilibre</a:t>
            </a:r>
            <a:endParaRPr lang="en-US" sz="3771" b="1" u="none" strike="noStrike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4740283"/>
            <a:ext cx="7183958" cy="1435198"/>
            <a:chOff x="0" y="0"/>
            <a:chExt cx="1478181" cy="2953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8181" cy="295308"/>
            </a:xfrm>
            <a:custGeom>
              <a:avLst/>
              <a:gdLst/>
              <a:ahLst/>
              <a:cxnLst/>
              <a:rect l="l" t="t" r="r" b="b"/>
              <a:pathLst>
                <a:path w="1478181" h="295308">
                  <a:moveTo>
                    <a:pt x="21048" y="0"/>
                  </a:moveTo>
                  <a:lnTo>
                    <a:pt x="1457132" y="0"/>
                  </a:lnTo>
                  <a:cubicBezTo>
                    <a:pt x="1462715" y="0"/>
                    <a:pt x="1468068" y="2218"/>
                    <a:pt x="1472016" y="6165"/>
                  </a:cubicBezTo>
                  <a:cubicBezTo>
                    <a:pt x="1475963" y="10112"/>
                    <a:pt x="1478181" y="15466"/>
                    <a:pt x="1478181" y="21048"/>
                  </a:cubicBezTo>
                  <a:lnTo>
                    <a:pt x="1478181" y="274260"/>
                  </a:lnTo>
                  <a:cubicBezTo>
                    <a:pt x="1478181" y="285885"/>
                    <a:pt x="1468757" y="295308"/>
                    <a:pt x="1457132" y="295308"/>
                  </a:cubicBezTo>
                  <a:lnTo>
                    <a:pt x="21048" y="295308"/>
                  </a:lnTo>
                  <a:cubicBezTo>
                    <a:pt x="15466" y="295308"/>
                    <a:pt x="10112" y="293091"/>
                    <a:pt x="6165" y="289143"/>
                  </a:cubicBezTo>
                  <a:cubicBezTo>
                    <a:pt x="2218" y="285196"/>
                    <a:pt x="0" y="279842"/>
                    <a:pt x="0" y="274260"/>
                  </a:cubicBezTo>
                  <a:lnTo>
                    <a:pt x="0" y="21048"/>
                  </a:lnTo>
                  <a:cubicBezTo>
                    <a:pt x="0" y="15466"/>
                    <a:pt x="2218" y="10112"/>
                    <a:pt x="6165" y="6165"/>
                  </a:cubicBezTo>
                  <a:cubicBezTo>
                    <a:pt x="10112" y="2218"/>
                    <a:pt x="15466" y="0"/>
                    <a:pt x="21048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78181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MODÉLISATION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022762" y="7216190"/>
            <a:ext cx="7920727" cy="1435198"/>
            <a:chOff x="0" y="0"/>
            <a:chExt cx="1629779" cy="2953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29779" cy="295308"/>
            </a:xfrm>
            <a:custGeom>
              <a:avLst/>
              <a:gdLst/>
              <a:ahLst/>
              <a:cxnLst/>
              <a:rect l="l" t="t" r="r" b="b"/>
              <a:pathLst>
                <a:path w="1629779" h="295308">
                  <a:moveTo>
                    <a:pt x="19090" y="0"/>
                  </a:moveTo>
                  <a:lnTo>
                    <a:pt x="1610689" y="0"/>
                  </a:lnTo>
                  <a:cubicBezTo>
                    <a:pt x="1621232" y="0"/>
                    <a:pt x="1629779" y="8547"/>
                    <a:pt x="1629779" y="19090"/>
                  </a:cubicBezTo>
                  <a:lnTo>
                    <a:pt x="1629779" y="276218"/>
                  </a:lnTo>
                  <a:cubicBezTo>
                    <a:pt x="1629779" y="281281"/>
                    <a:pt x="1627768" y="286137"/>
                    <a:pt x="1624188" y="289717"/>
                  </a:cubicBezTo>
                  <a:cubicBezTo>
                    <a:pt x="1620608" y="293297"/>
                    <a:pt x="1615752" y="295308"/>
                    <a:pt x="1610689" y="295308"/>
                  </a:cubicBezTo>
                  <a:lnTo>
                    <a:pt x="19090" y="295308"/>
                  </a:lnTo>
                  <a:cubicBezTo>
                    <a:pt x="14027" y="295308"/>
                    <a:pt x="9172" y="293297"/>
                    <a:pt x="5591" y="289717"/>
                  </a:cubicBezTo>
                  <a:cubicBezTo>
                    <a:pt x="2011" y="286137"/>
                    <a:pt x="0" y="281281"/>
                    <a:pt x="0" y="276218"/>
                  </a:cubicBezTo>
                  <a:lnTo>
                    <a:pt x="0" y="19090"/>
                  </a:lnTo>
                  <a:cubicBezTo>
                    <a:pt x="0" y="14027"/>
                    <a:pt x="2011" y="9172"/>
                    <a:pt x="5591" y="5591"/>
                  </a:cubicBezTo>
                  <a:cubicBezTo>
                    <a:pt x="9172" y="2011"/>
                    <a:pt x="14027" y="0"/>
                    <a:pt x="1909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29779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58611" y="4712747"/>
            <a:ext cx="8821117" cy="1435198"/>
            <a:chOff x="0" y="0"/>
            <a:chExt cx="1815045" cy="2953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5045" cy="295308"/>
            </a:xfrm>
            <a:custGeom>
              <a:avLst/>
              <a:gdLst/>
              <a:ahLst/>
              <a:cxnLst/>
              <a:rect l="l" t="t" r="r" b="b"/>
              <a:pathLst>
                <a:path w="1815045" h="295308">
                  <a:moveTo>
                    <a:pt x="17142" y="0"/>
                  </a:moveTo>
                  <a:lnTo>
                    <a:pt x="1797903" y="0"/>
                  </a:lnTo>
                  <a:cubicBezTo>
                    <a:pt x="1807370" y="0"/>
                    <a:pt x="1815045" y="7675"/>
                    <a:pt x="1815045" y="17142"/>
                  </a:cubicBezTo>
                  <a:lnTo>
                    <a:pt x="1815045" y="278166"/>
                  </a:lnTo>
                  <a:cubicBezTo>
                    <a:pt x="1815045" y="282713"/>
                    <a:pt x="1813239" y="287073"/>
                    <a:pt x="1810024" y="290287"/>
                  </a:cubicBezTo>
                  <a:cubicBezTo>
                    <a:pt x="1806809" y="293502"/>
                    <a:pt x="1802449" y="295308"/>
                    <a:pt x="1797903" y="295308"/>
                  </a:cubicBezTo>
                  <a:lnTo>
                    <a:pt x="17142" y="295308"/>
                  </a:lnTo>
                  <a:cubicBezTo>
                    <a:pt x="12595" y="295308"/>
                    <a:pt x="8235" y="293502"/>
                    <a:pt x="5021" y="290287"/>
                  </a:cubicBezTo>
                  <a:cubicBezTo>
                    <a:pt x="1806" y="287073"/>
                    <a:pt x="0" y="282713"/>
                    <a:pt x="0" y="278166"/>
                  </a:cubicBezTo>
                  <a:lnTo>
                    <a:pt x="0" y="17142"/>
                  </a:lnTo>
                  <a:cubicBezTo>
                    <a:pt x="0" y="12595"/>
                    <a:pt x="1806" y="8235"/>
                    <a:pt x="5021" y="5021"/>
                  </a:cubicBezTo>
                  <a:cubicBezTo>
                    <a:pt x="8235" y="1806"/>
                    <a:pt x="12595" y="0"/>
                    <a:pt x="17142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15045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85181" y="5167790"/>
            <a:ext cx="4489364" cy="544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61"/>
              </a:lnSpc>
              <a:spcBef>
                <a:spcPct val="0"/>
              </a:spcBef>
            </a:pPr>
            <a:r>
              <a:rPr lang="en-US" sz="3771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48276" y="5167790"/>
            <a:ext cx="710485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61"/>
              </a:lnSpc>
              <a:spcBef>
                <a:spcPct val="0"/>
              </a:spcBef>
            </a:pPr>
            <a:r>
              <a:rPr lang="en-US" sz="3771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 vector machine (SVM)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2824" y="7692216"/>
            <a:ext cx="638468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61"/>
              </a:lnSpc>
              <a:spcBef>
                <a:spcPct val="0"/>
              </a:spcBef>
            </a:pPr>
            <a:r>
              <a:rPr lang="en-US" sz="3771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K-nearest Neighbors (KNN</a:t>
            </a:r>
            <a:r>
              <a:rPr lang="en-US" sz="3771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39285" y="3022261"/>
            <a:ext cx="5231765" cy="105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8764" y="8484534"/>
            <a:ext cx="1199873" cy="1199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5203" y="2018410"/>
            <a:ext cx="3086100" cy="186854"/>
            <a:chOff x="0" y="0"/>
            <a:chExt cx="635000" cy="384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38447"/>
            </a:xfrm>
            <a:custGeom>
              <a:avLst/>
              <a:gdLst/>
              <a:ahLst/>
              <a:cxnLst/>
              <a:rect l="l" t="t" r="r" b="b"/>
              <a:pathLst>
                <a:path w="635000" h="38447">
                  <a:moveTo>
                    <a:pt x="0" y="0"/>
                  </a:moveTo>
                  <a:lnTo>
                    <a:pt x="635000" y="0"/>
                  </a:lnTo>
                  <a:lnTo>
                    <a:pt x="635000" y="38447"/>
                  </a:lnTo>
                  <a:lnTo>
                    <a:pt x="0" y="38447"/>
                  </a:ln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7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13689" y="3849892"/>
            <a:ext cx="12930858" cy="1435198"/>
            <a:chOff x="0" y="0"/>
            <a:chExt cx="2660670" cy="2953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60670" cy="295308"/>
            </a:xfrm>
            <a:custGeom>
              <a:avLst/>
              <a:gdLst/>
              <a:ahLst/>
              <a:cxnLst/>
              <a:rect l="l" t="t" r="r" b="b"/>
              <a:pathLst>
                <a:path w="2660670" h="295308">
                  <a:moveTo>
                    <a:pt x="11694" y="0"/>
                  </a:moveTo>
                  <a:lnTo>
                    <a:pt x="2648977" y="0"/>
                  </a:lnTo>
                  <a:cubicBezTo>
                    <a:pt x="2655435" y="0"/>
                    <a:pt x="2660670" y="5235"/>
                    <a:pt x="2660670" y="11694"/>
                  </a:cubicBezTo>
                  <a:lnTo>
                    <a:pt x="2660670" y="283614"/>
                  </a:lnTo>
                  <a:cubicBezTo>
                    <a:pt x="2660670" y="290073"/>
                    <a:pt x="2655435" y="295308"/>
                    <a:pt x="2648977" y="295308"/>
                  </a:cubicBezTo>
                  <a:lnTo>
                    <a:pt x="11694" y="295308"/>
                  </a:lnTo>
                  <a:cubicBezTo>
                    <a:pt x="5235" y="295308"/>
                    <a:pt x="0" y="290073"/>
                    <a:pt x="0" y="283614"/>
                  </a:cubicBezTo>
                  <a:lnTo>
                    <a:pt x="0" y="11694"/>
                  </a:lnTo>
                  <a:cubicBezTo>
                    <a:pt x="0" y="5235"/>
                    <a:pt x="5235" y="0"/>
                    <a:pt x="11694" y="0"/>
                  </a:cubicBezTo>
                  <a:close/>
                </a:path>
              </a:pathLst>
            </a:custGeom>
            <a:solidFill>
              <a:srgbClr val="0D3C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60670" cy="33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35203" y="923669"/>
            <a:ext cx="15508211" cy="10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ÉVALUATION DES MODÈLES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9" y="8735844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9877425"/>
            <a:ext cx="5227506" cy="27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884" i="1">
                <a:solidFill>
                  <a:srgbClr val="54545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Projet Data Science Master 1 ISI 2025-2026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9813" y="5466065"/>
            <a:ext cx="5374187" cy="379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772" lvl="1" indent="-388886" algn="l">
              <a:lnSpc>
                <a:spcPts val="5043"/>
              </a:lnSpc>
              <a:spcBef>
                <a:spcPct val="0"/>
              </a:spcBef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</a:p>
          <a:p>
            <a:pPr marL="777772" lvl="1" indent="-388886" algn="l">
              <a:lnSpc>
                <a:spcPts val="5043"/>
              </a:lnSpc>
              <a:spcBef>
                <a:spcPct val="0"/>
              </a:spcBef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</a:p>
          <a:p>
            <a:pPr marL="777772" lvl="1" indent="-388886" algn="l">
              <a:lnSpc>
                <a:spcPts val="5043"/>
              </a:lnSpc>
              <a:spcBef>
                <a:spcPct val="0"/>
              </a:spcBef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</a:p>
          <a:p>
            <a:pPr marL="777772" lvl="1" indent="-388886" algn="l">
              <a:lnSpc>
                <a:spcPts val="5043"/>
              </a:lnSpc>
              <a:spcBef>
                <a:spcPct val="0"/>
              </a:spcBef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</a:p>
          <a:p>
            <a:pPr marL="777772" lvl="1" indent="-388886" algn="l">
              <a:lnSpc>
                <a:spcPts val="5043"/>
              </a:lnSpc>
              <a:spcBef>
                <a:spcPct val="0"/>
              </a:spcBef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ROC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13753" y="4241348"/>
            <a:ext cx="12586756" cy="56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0"/>
              </a:lnSpc>
              <a:spcBef>
                <a:spcPct val="0"/>
              </a:spcBef>
            </a:pPr>
            <a:r>
              <a:rPr lang="en-US" sz="332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RÉSULTATS MÉTRIQUES DE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9918" y="2795512"/>
            <a:ext cx="20127836" cy="11161800"/>
          </a:xfrm>
          <a:custGeom>
            <a:avLst/>
            <a:gdLst/>
            <a:ahLst/>
            <a:cxnLst/>
            <a:rect l="l" t="t" r="r" b="b"/>
            <a:pathLst>
              <a:path w="20127836" h="11161800">
                <a:moveTo>
                  <a:pt x="0" y="0"/>
                </a:moveTo>
                <a:lnTo>
                  <a:pt x="20127836" y="0"/>
                </a:lnTo>
                <a:lnTo>
                  <a:pt x="20127836" y="11161800"/>
                </a:lnTo>
                <a:lnTo>
                  <a:pt x="0" y="1116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02649" y="3516258"/>
            <a:ext cx="21658947" cy="222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LIMITES &amp; RECOMMANDATIONS</a:t>
            </a:r>
          </a:p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endParaRPr lang="en-US" sz="6399" b="1" u="none" strike="noStrike">
              <a:solidFill>
                <a:srgbClr val="1C1C1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191</Words>
  <Application>Microsoft Office PowerPoint</Application>
  <PresentationFormat>Personnalisé</PresentationFormat>
  <Paragraphs>59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Canva Sans Italics</vt:lpstr>
      <vt:lpstr>Canva Sans Bold</vt:lpstr>
      <vt:lpstr>Calibri</vt:lpstr>
      <vt:lpstr>Montserrat</vt:lpstr>
      <vt:lpstr>Montserrat Bold</vt:lpstr>
      <vt:lpstr>Canva Sans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Data Science Powerpoint</dc:title>
  <dc:creator>HP</dc:creator>
  <cp:lastModifiedBy>Astrel Zalla</cp:lastModifiedBy>
  <cp:revision>4</cp:revision>
  <dcterms:created xsi:type="dcterms:W3CDTF">2006-08-16T00:00:00Z</dcterms:created>
  <dcterms:modified xsi:type="dcterms:W3CDTF">2026-02-02T21:00:19Z</dcterms:modified>
  <dc:identifier>DAHAH0ryc_s</dc:identifier>
</cp:coreProperties>
</file>